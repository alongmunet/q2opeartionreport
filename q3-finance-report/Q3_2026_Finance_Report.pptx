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8096"/>
            <a:ext cx="12191695" cy="100584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09728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2400">
                <a:solidFill>
                  <a:srgbClr val="FFFFFF"/>
                </a:solidFill>
                <a:latin typeface="Aptos"/>
              </a:rPr>
              <a:t>Financial Performance: Cash Flow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512064"/>
            <a:ext cx="9144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700">
                <a:solidFill>
                  <a:srgbClr val="FFFFFF"/>
                </a:solidFill>
                <a:latin typeface="Aptos"/>
              </a:rPr>
              <a:t>TGFB | July 2026 - September 2026 | All figures in RM</a:t>
            </a:r>
          </a:p>
        </p:txBody>
      </p:sp>
      <p:sp>
        <p:nvSpPr>
          <p:cNvPr id="6" name="Rectangle 5"/>
          <p:cNvSpPr/>
          <p:nvPr/>
        </p:nvSpPr>
        <p:spPr>
          <a:xfrm>
            <a:off x="9957816" y="182880"/>
            <a:ext cx="1216152" cy="39319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 tIns="0" bIns="0"/>
          <a:lstStyle/>
          <a:p>
            <a:pPr algn="ctr"/>
            <a:r>
              <a:rPr b="1" sz="900">
                <a:solidFill>
                  <a:srgbClr val="081E42"/>
                </a:solidFill>
                <a:latin typeface="Aptos"/>
              </a:rPr>
              <a:t>Q3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1033271"/>
            <a:ext cx="11679631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050">
                <a:solidFill>
                  <a:srgbClr val="0F172A"/>
                </a:solidFill>
                <a:latin typeface="Aptos"/>
              </a:rPr>
              <a:t>Q3 operating cash was positive every month, totalling RM2.61M. Net cash flow was (RM2.88M), mainly from RM3.34M new-branch capex and RM2.29M placed in fixed deposit and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6675120"/>
            <a:ext cx="10972800" cy="1371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550">
                <a:solidFill>
                  <a:srgbClr val="64748B"/>
                </a:solidFill>
                <a:latin typeface="Aptos"/>
              </a:rPr>
              <a:t>Source: TGFB Cash Flow Statement PDFs for July, August and September 2026 (latest revised upload)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463040"/>
            <a:ext cx="20756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1463040"/>
            <a:ext cx="54864" cy="71323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517904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50">
                <a:solidFill>
                  <a:srgbClr val="64748B"/>
                </a:solidFill>
                <a:latin typeface="Aptos"/>
              </a:rPr>
              <a:t>Q3 CASH RECEIPTS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645920"/>
            <a:ext cx="1892807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700">
                <a:solidFill>
                  <a:srgbClr val="0F172A"/>
                </a:solidFill>
                <a:latin typeface="Aptos"/>
              </a:rPr>
              <a:t>RM29.15M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965960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00">
                <a:solidFill>
                  <a:srgbClr val="64748B"/>
                </a:solidFill>
                <a:latin typeface="Aptos"/>
              </a:rPr>
              <a:t>Customers &amp; sales contribute 95.0%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56332" y="1463040"/>
            <a:ext cx="20756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56332" y="1463040"/>
            <a:ext cx="54864" cy="713232"/>
          </a:xfrm>
          <a:prstGeom prst="rect">
            <a:avLst/>
          </a:prstGeom>
          <a:solidFill>
            <a:srgbClr val="F7900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4348" y="1517904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50">
                <a:solidFill>
                  <a:srgbClr val="64748B"/>
                </a:solidFill>
                <a:latin typeface="Aptos"/>
              </a:rPr>
              <a:t>Q3 CASH 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4348" y="1645920"/>
            <a:ext cx="1892807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700">
                <a:solidFill>
                  <a:srgbClr val="0F172A"/>
                </a:solidFill>
                <a:latin typeface="Aptos"/>
              </a:rPr>
              <a:t>RM26.53M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4348" y="1965960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00">
                <a:solidFill>
                  <a:srgbClr val="64748B"/>
                </a:solidFill>
                <a:latin typeface="Aptos"/>
              </a:rPr>
              <a:t>Inventory + wages are key outflows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56632" y="1463040"/>
            <a:ext cx="20756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56632" y="1463040"/>
            <a:ext cx="54864" cy="71323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84648" y="1517904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50">
                <a:solidFill>
                  <a:srgbClr val="64748B"/>
                </a:solidFill>
                <a:latin typeface="Aptos"/>
              </a:rPr>
              <a:t>NET CASH FROM OPERATIONS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4648" y="1645920"/>
            <a:ext cx="1892807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700">
                <a:solidFill>
                  <a:srgbClr val="0F172A"/>
                </a:solidFill>
                <a:latin typeface="Aptos"/>
              </a:rPr>
              <a:t>RM2.61M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4648" y="1965960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00">
                <a:solidFill>
                  <a:srgbClr val="64748B"/>
                </a:solidFill>
                <a:latin typeface="Aptos"/>
              </a:rPr>
              <a:t>Positive across Jul-Aug-Sep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56931" y="1463040"/>
            <a:ext cx="20756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56931" y="1463040"/>
            <a:ext cx="54864" cy="713232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4948" y="1517904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50">
                <a:solidFill>
                  <a:srgbClr val="64748B"/>
                </a:solidFill>
                <a:latin typeface="Aptos"/>
              </a:rPr>
              <a:t>Q3 NET CASH 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4948" y="1645920"/>
            <a:ext cx="1892807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700">
                <a:solidFill>
                  <a:srgbClr val="C00000"/>
                </a:solidFill>
                <a:latin typeface="Aptos"/>
              </a:rPr>
              <a:t>(RM2.88M)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4948" y="1965960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00">
                <a:solidFill>
                  <a:srgbClr val="64748B"/>
                </a:solidFill>
                <a:latin typeface="Aptos"/>
              </a:rPr>
              <a:t>Quarter total movement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57232" y="1463040"/>
            <a:ext cx="20756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57232" y="1463040"/>
            <a:ext cx="54864" cy="71323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85248" y="1517904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50">
                <a:solidFill>
                  <a:srgbClr val="64748B"/>
                </a:solidFill>
                <a:latin typeface="Aptos"/>
              </a:rPr>
              <a:t>SEPT NET CASH FLOW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85248" y="1645920"/>
            <a:ext cx="1892807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700">
                <a:solidFill>
                  <a:srgbClr val="C00000"/>
                </a:solidFill>
                <a:latin typeface="Aptos"/>
              </a:rPr>
              <a:t>(RM1.72M)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85248" y="1965960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00">
                <a:solidFill>
                  <a:srgbClr val="64748B"/>
                </a:solidFill>
                <a:latin typeface="Aptos"/>
              </a:rPr>
              <a:t>Sep-26 monthly movement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340864"/>
            <a:ext cx="11679631" cy="237744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2608" y="2340864"/>
            <a:ext cx="11679631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1000">
                <a:solidFill>
                  <a:srgbClr val="FFFFFF"/>
                </a:solidFill>
                <a:latin typeface="Aptos"/>
              </a:rPr>
              <a:t>Monthly Cash Flow Summary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256032" y="2578608"/>
          <a:ext cx="11676888" cy="29443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11680"/>
                <a:gridCol w="1325880"/>
                <a:gridCol w="1325880"/>
                <a:gridCol w="1325880"/>
                <a:gridCol w="1417320"/>
                <a:gridCol w="4270248"/>
              </a:tblGrid>
              <a:tr h="36576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81E42"/>
                          </a:solidFill>
                          <a:latin typeface="Aptos"/>
                        </a:rPr>
                        <a:t>Category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81E42"/>
                          </a:solidFill>
                          <a:latin typeface="Aptos"/>
                        </a:rPr>
                        <a:t>Jul-26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81E42"/>
                          </a:solidFill>
                          <a:latin typeface="Aptos"/>
                        </a:rPr>
                        <a:t>Aug-26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81E42"/>
                          </a:solidFill>
                          <a:latin typeface="Aptos"/>
                        </a:rPr>
                        <a:t>Sep-26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81E42"/>
                          </a:solidFill>
                          <a:latin typeface="Aptos"/>
                        </a:rPr>
                        <a:t>Q3 Total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81E42"/>
                          </a:solidFill>
                          <a:latin typeface="Aptos"/>
                        </a:rPr>
                        <a:t>Remarks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Cash Receipts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9,227,399.16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9,799,550.56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10,119,617.17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29,146,566.89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Increased every month; Sep highest at RM10.12M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Cash Paid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9,182,345.05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8,279,946.95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9,070,707.48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26,532,999.48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Jul highest (RM1.03M SST); Aug lowest with no SST payment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Net Cash from Operations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45,054.11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1,519,603.61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1,048,909.69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2,613,567.41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Positive every month; Aug strongest at RM1.52M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Net Investing Activities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(2,497,139.36)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(420,327.69)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(2,645,279.73)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(5,562,746.78)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Jul capex RM2.30M; Sep RM2.00M fixed deposit placement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Net Financing Activities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142,540.27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55,036.42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(123,700.93)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73,875.76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Jul includes RM720K investor funds; Sep net outflow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Aptos"/>
                        </a:rPr>
                        <a:t>Net Cash Flow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81E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(2,309,544.98)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1,154,312.34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(1,720,070.97)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(2,875,303.61)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Bank balance RM15.45M (1 Jul) to RM12.57M (30 Sep)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ectangle 36"/>
          <p:cNvSpPr/>
          <p:nvPr/>
        </p:nvSpPr>
        <p:spPr>
          <a:xfrm>
            <a:off x="256032" y="5806440"/>
            <a:ext cx="11679631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806440"/>
            <a:ext cx="11460175" cy="43891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800">
                <a:solidFill>
                  <a:srgbClr val="64748B"/>
                </a:solidFill>
                <a:latin typeface="Aptos"/>
              </a:rPr>
              <a:t>KEY TAKEAWAY </a:t>
            </a:r>
            <a:r>
              <a:rPr b="1" sz="800">
                <a:solidFill>
                  <a:srgbClr val="0F172A"/>
                </a:solidFill>
                <a:latin typeface="Aptos"/>
              </a:rPr>
              <a:t>Cash receipts grew every month from RM9.23M to RM10.12M, but SST payments in July and September (RM2.18M combined) and new-branch capex of RM3.34M pulled cash down. RM2.29M went into fixed deposit and investment, not spent.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8096"/>
            <a:ext cx="12191695" cy="100584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09728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2400">
                <a:solidFill>
                  <a:srgbClr val="FFFFFF"/>
                </a:solidFill>
                <a:latin typeface="Aptos"/>
              </a:rPr>
              <a:t>Financial Performance: Cash Receipts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512064"/>
            <a:ext cx="9144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700">
                <a:solidFill>
                  <a:srgbClr val="FFFFFF"/>
                </a:solidFill>
                <a:latin typeface="Aptos"/>
              </a:rPr>
              <a:t>TGFB | July 2026 - September 2026 | All figures in RM</a:t>
            </a:r>
          </a:p>
        </p:txBody>
      </p:sp>
      <p:sp>
        <p:nvSpPr>
          <p:cNvPr id="6" name="Rectangle 5"/>
          <p:cNvSpPr/>
          <p:nvPr/>
        </p:nvSpPr>
        <p:spPr>
          <a:xfrm>
            <a:off x="9957816" y="182880"/>
            <a:ext cx="1216152" cy="39319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 tIns="0" bIns="0"/>
          <a:lstStyle/>
          <a:p>
            <a:pPr algn="ctr"/>
            <a:r>
              <a:rPr b="1" sz="900">
                <a:solidFill>
                  <a:srgbClr val="081E42"/>
                </a:solidFill>
                <a:latin typeface="Aptos"/>
              </a:rPr>
              <a:t>Q3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1033271"/>
            <a:ext cx="11679631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150">
                <a:solidFill>
                  <a:srgbClr val="0F172A"/>
                </a:solidFill>
                <a:latin typeface="Aptos"/>
              </a:rPr>
              <a:t>Total cash receipts increased every month, from RM9.23M in July to RM10.12M in September. Royalty declined after July.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6675120"/>
            <a:ext cx="10972800" cy="1371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550">
                <a:solidFill>
                  <a:srgbClr val="64748B"/>
                </a:solidFill>
                <a:latin typeface="Aptos"/>
              </a:rPr>
              <a:t>Source: TGFB Cash Flow Statement PDFs for July, August and September 2026 (latest revised upload)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536192"/>
            <a:ext cx="11679631" cy="329184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536192"/>
            <a:ext cx="11679631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1100">
                <a:solidFill>
                  <a:srgbClr val="FFFFFF"/>
                </a:solidFill>
                <a:latin typeface="Aptos"/>
              </a:rPr>
              <a:t>Operations: Cash Receipts From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56032" y="1865376"/>
          <a:ext cx="11676888" cy="33832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77440"/>
                <a:gridCol w="1188720"/>
                <a:gridCol w="1188720"/>
                <a:gridCol w="1188720"/>
                <a:gridCol w="1371600"/>
                <a:gridCol w="777240"/>
                <a:gridCol w="3584448"/>
              </a:tblGrid>
              <a:tr h="45720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Account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Jul-26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Aug-26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Sep-26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Q3 Total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% of Q3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Compare / Remarks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Customers &amp; Sales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8,815,311.78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9,420,302.14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9,459,935.84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27,695,549.76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95.0%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Grew every month; Sep-26 highest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Licensing fee &amp; package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10,000.00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320,000.00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330,000.00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1.1%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Nil in Jul; Sep RM120K fee + RM200K package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Royalty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369,866.18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327,715.27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296,844.55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994,426.00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3.4%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Declined Aug-Sep, in line with royalty discount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Other operations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42,221.20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41,533.15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42,836.78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126,591.13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0.4%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Stable at about RM42K every month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FFFFFF"/>
                          </a:solidFill>
                          <a:latin typeface="Aptos"/>
                        </a:rPr>
                        <a:t>TOTAL CASH RECEIPTS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81E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9,227,399.16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9,799,550.56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10,119,617.17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29,146,566.89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100.0%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Sep highest; Jul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256032" y="5486400"/>
            <a:ext cx="594360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" y="5577840"/>
            <a:ext cx="5577840" cy="8686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000">
                <a:solidFill>
                  <a:srgbClr val="0F172A"/>
                </a:solidFill>
                <a:latin typeface="Aptos"/>
              </a:rPr>
              <a:t>Receipts insights</a:t>
            </a:r>
          </a:p>
          <a:p>
            <a:pPr algn="l"/>
            <a:r>
              <a:rPr b="0" sz="850">
                <a:solidFill>
                  <a:srgbClr val="0F172A"/>
                </a:solidFill>
                <a:latin typeface="Aptos"/>
              </a:rPr>
              <a:t>• Customers &amp; Sales contributed 95.0% of Q3 receipts.</a:t>
            </a:r>
          </a:p>
          <a:p>
            <a:pPr algn="l"/>
            <a:r>
              <a:rPr b="0" sz="850">
                <a:solidFill>
                  <a:srgbClr val="0F172A"/>
                </a:solidFill>
                <a:latin typeface="Aptos"/>
              </a:rPr>
              <a:t>• Royalty fell from RM369.9K in July to RM296.8K in September.</a:t>
            </a:r>
          </a:p>
          <a:p>
            <a:pPr algn="l"/>
            <a:r>
              <a:rPr b="0" sz="850">
                <a:solidFill>
                  <a:srgbClr val="0F172A"/>
                </a:solidFill>
                <a:latin typeface="Aptos"/>
              </a:rPr>
              <a:t>• Licensing fee &amp; package receipts rose from nil in July to RM320.0K in September.</a:t>
            </a:r>
          </a:p>
          <a:p>
            <a:pPr algn="l"/>
            <a:r>
              <a:rPr b="0" sz="850">
                <a:solidFill>
                  <a:srgbClr val="0F172A"/>
                </a:solidFill>
                <a:latin typeface="Aptos"/>
              </a:rPr>
              <a:t>• Other operations stayed stable at RM41.5K-RM42.8K per month.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8096"/>
            <a:ext cx="12191695" cy="100584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09728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2400">
                <a:solidFill>
                  <a:srgbClr val="FFFFFF"/>
                </a:solidFill>
                <a:latin typeface="Aptos"/>
              </a:rPr>
              <a:t>Financial Performance: Operating Cash Paid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512064"/>
            <a:ext cx="9144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700">
                <a:solidFill>
                  <a:srgbClr val="FFFFFF"/>
                </a:solidFill>
                <a:latin typeface="Aptos"/>
              </a:rPr>
              <a:t>TGFB | July 2026 - September 2026 | All figures in RM</a:t>
            </a:r>
          </a:p>
        </p:txBody>
      </p:sp>
      <p:sp>
        <p:nvSpPr>
          <p:cNvPr id="6" name="Rectangle 5"/>
          <p:cNvSpPr/>
          <p:nvPr/>
        </p:nvSpPr>
        <p:spPr>
          <a:xfrm>
            <a:off x="9957816" y="182880"/>
            <a:ext cx="1216152" cy="39319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 tIns="0" bIns="0"/>
          <a:lstStyle/>
          <a:p>
            <a:pPr algn="ctr"/>
            <a:r>
              <a:rPr b="1" sz="900">
                <a:solidFill>
                  <a:srgbClr val="081E42"/>
                </a:solidFill>
                <a:latin typeface="Aptos"/>
              </a:rPr>
              <a:t>Q3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1033271"/>
            <a:ext cx="11679631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000">
                <a:solidFill>
                  <a:srgbClr val="0F172A"/>
                </a:solidFill>
                <a:latin typeface="Aptos"/>
              </a:rPr>
              <a:t>Inventory purchases, wages, SST and rental were the biggest operating cash outflows. SST was paid in July and September, making them the two highest-outflow months.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6675120"/>
            <a:ext cx="10972800" cy="1371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550">
                <a:solidFill>
                  <a:srgbClr val="64748B"/>
                </a:solidFill>
                <a:latin typeface="Aptos"/>
              </a:rPr>
              <a:t>Source: TGFB Cash Flow Statement PDFs for July, August and September 2026 (latest revised upload)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371600"/>
            <a:ext cx="11679631" cy="219456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371600"/>
            <a:ext cx="11679631" cy="21945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1100">
                <a:solidFill>
                  <a:srgbClr val="FFFFFF"/>
                </a:solidFill>
                <a:latin typeface="Aptos"/>
              </a:rPr>
              <a:t>Operations: Cash Paid For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56032" y="1591056"/>
          <a:ext cx="11676888" cy="42702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3200"/>
                <a:gridCol w="1234440"/>
                <a:gridCol w="1234440"/>
                <a:gridCol w="1234440"/>
                <a:gridCol w="1325880"/>
                <a:gridCol w="685800"/>
                <a:gridCol w="3218688"/>
              </a:tblGrid>
              <a:tr h="237744"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81E42"/>
                          </a:solidFill>
                          <a:latin typeface="Aptos"/>
                        </a:rPr>
                        <a:t>Account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81E42"/>
                          </a:solidFill>
                          <a:latin typeface="Aptos"/>
                        </a:rPr>
                        <a:t>Jul-26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81E42"/>
                          </a:solidFill>
                          <a:latin typeface="Aptos"/>
                        </a:rPr>
                        <a:t>Aug-26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81E42"/>
                          </a:solidFill>
                          <a:latin typeface="Aptos"/>
                        </a:rPr>
                        <a:t>Sep-26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81E42"/>
                          </a:solidFill>
                          <a:latin typeface="Aptos"/>
                        </a:rPr>
                        <a:t>Q3 Total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81E42"/>
                          </a:solidFill>
                          <a:latin typeface="Aptos"/>
                        </a:rPr>
                        <a:t>% Paid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81E42"/>
                          </a:solidFill>
                          <a:latin typeface="Aptos"/>
                        </a:rPr>
                        <a:t>Compare / Remarks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Inventory purchases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4,918,792.44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5,000,785.79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4,224,003.99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14,143,582.22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53.3%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Peaked Aug; largest outflow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Distribution Fee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187,370.00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187,370.00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0.7%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Sep payment only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Deposit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140,976.35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32,000.00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227,765.00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400,741.35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1.5%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Sep-26 highest; Aug-26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HQ Operation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139,925.45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218,053.87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278,274.58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636,253.90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2.4%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Increased every month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Marketing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10,638.63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33,472.90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6,945.85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51,057.38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0.2%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Aug-26 highest; Sep-26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Profit sharing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58,018.61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114,075.02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67,013.90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239,107.53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0.9%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Aug-26 highest; Jul-26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Wage expenses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1,715,948.15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1,766,216.42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1,760,159.92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5,242,324.49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19.8%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Stable at RM1.72M-RM1.77M monthly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Bank Charges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148.72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165.50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169.80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484.02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Minimal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Income taxes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250,000.00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250,000.00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250,000.00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750,000.00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2.8%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Stable monthly RM250K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New Branches Expenses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119,159.11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49,573.64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15,228.00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183,960.75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0.7%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Reduced every month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Branch Expenditure &amp; Upkeep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148,787.27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153,682.35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155,855.60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458,325.22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1.7%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Increased gradually every month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Credit Card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68,504.89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4,045.97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102,185.69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174,736.55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0.7%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Sep-26 highest; Aug-26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Co Trip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21,997.70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21,997.70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0.1%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Aug payment only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Utilities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170,789.50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194,914.84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182,900.50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548,604.84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2.1%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Aug-26 highest; Jul-26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Rental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407,130.32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440,962.95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460,291.05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1,308,384.32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4.9%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Increased every month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Sponsorship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2,500.00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2,500.00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Jul payment only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SST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1,031,025.61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1,152,543.60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2,183,569.21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8.2%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Paid in Jul and Sep; none in Aug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FFFFFF"/>
                          </a:solidFill>
                          <a:latin typeface="Aptos"/>
                        </a:rPr>
                        <a:t>TOTAL CASH PAID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81E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9,182,345.05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8,279,946.95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9,070,707.48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26,532,999.48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100.0%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Jul highest; Aug lowest (no SST)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256032" y="6035040"/>
            <a:ext cx="11679631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035040"/>
            <a:ext cx="11460175" cy="43891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800">
                <a:solidFill>
                  <a:srgbClr val="64748B"/>
                </a:solidFill>
                <a:latin typeface="Aptos"/>
              </a:rPr>
              <a:t>KEY TAKEAWAY </a:t>
            </a:r>
            <a:r>
              <a:rPr b="1" sz="800">
                <a:solidFill>
                  <a:srgbClr val="0F172A"/>
                </a:solidFill>
                <a:latin typeface="Aptos"/>
              </a:rPr>
              <a:t>TOP OUTFLOW CATEGORIES: Inventory purchases RM14.14M | Wage expenses RM5.24M | SST RM2.18M | Rental RM1.31M | Income taxes RM0.75M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8096"/>
            <a:ext cx="12191695" cy="100584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09728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2400">
                <a:solidFill>
                  <a:srgbClr val="FFFFFF"/>
                </a:solidFill>
                <a:latin typeface="Aptos"/>
              </a:rPr>
              <a:t>Financial Performance: Investing &amp; Financing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512064"/>
            <a:ext cx="9144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700">
                <a:solidFill>
                  <a:srgbClr val="FFFFFF"/>
                </a:solidFill>
                <a:latin typeface="Aptos"/>
              </a:rPr>
              <a:t>TGFB | July 2026 - September 2026 | All figures in RM</a:t>
            </a:r>
          </a:p>
        </p:txBody>
      </p:sp>
      <p:sp>
        <p:nvSpPr>
          <p:cNvPr id="6" name="Rectangle 5"/>
          <p:cNvSpPr/>
          <p:nvPr/>
        </p:nvSpPr>
        <p:spPr>
          <a:xfrm>
            <a:off x="9957816" y="182880"/>
            <a:ext cx="1216152" cy="39319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 tIns="0" bIns="0"/>
          <a:lstStyle/>
          <a:p>
            <a:pPr algn="ctr"/>
            <a:r>
              <a:rPr b="1" sz="900">
                <a:solidFill>
                  <a:srgbClr val="081E42"/>
                </a:solidFill>
                <a:latin typeface="Aptos"/>
              </a:rPr>
              <a:t>Q3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1033271"/>
            <a:ext cx="11679631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950">
                <a:solidFill>
                  <a:srgbClr val="0F172A"/>
                </a:solidFill>
                <a:latin typeface="Aptos"/>
              </a:rPr>
              <a:t>New-branch capex (RM3.34M) and RM2.29M placed in fixed deposits drove investing outflows. Financing was positive in Jul-Aug, helped by RM949K investor funds.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6675120"/>
            <a:ext cx="10972800" cy="1371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550">
                <a:solidFill>
                  <a:srgbClr val="64748B"/>
                </a:solidFill>
                <a:latin typeface="Aptos"/>
              </a:rPr>
              <a:t>Source: TGFB Cash Flow Statement PDFs for July, August and September 2026 (latest revised upload)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371600"/>
            <a:ext cx="11679631" cy="237744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371600"/>
            <a:ext cx="11679631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1100">
                <a:solidFill>
                  <a:srgbClr val="FFFFFF"/>
                </a:solidFill>
                <a:latin typeface="Aptos"/>
              </a:rPr>
              <a:t>Investing Activities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56032" y="1609344"/>
          <a:ext cx="11676888" cy="21945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31720"/>
                <a:gridCol w="1188720"/>
                <a:gridCol w="1188720"/>
                <a:gridCol w="1188720"/>
                <a:gridCol w="1280160"/>
                <a:gridCol w="685800"/>
                <a:gridCol w="3813048"/>
              </a:tblGrid>
              <a:tr h="274320"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Account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Jul-26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Aug-26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Sep-26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Q3 Total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% / Q3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Compare / Remarks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Proceeds from sale of motor vehicle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190,125.00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190,125.00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3.2%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Disposal of motor vehicle in Jul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Interest received (Maybank pooled)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8,970.22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8,970.22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0.2%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Interest from Maybank pooled account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Purchase of property and equipment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(100,223.00)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(17,369.00)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(14,400.00)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(131,992.00)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2.2%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Jul truck &amp; phone; reduced every month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Capex New Branches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(2,300,748.36)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(402,958.69)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(639,849.95)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(3,343,557.00)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56.1%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For outlet expansion; Jul-26 highest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Placement of Fixed Deposit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(2,000,000.00)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(2,000,000.00)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33.6%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RM2.0M placed in fixed deposit in Sep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Purchase of investment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(286,293.00)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(286,293.00)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4.8%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Jul fixed deposit (per accounts remark)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FFFFFF"/>
                          </a:solidFill>
                          <a:latin typeface="Aptos"/>
                        </a:rPr>
                        <a:t>NET INVESTING ACTIVITIES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81E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(2,497,139.36)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(420,327.69)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(2,645,279.73)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(5,562,746.78)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100.0%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Sep-26 highest outflow; Aug-26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256032" y="4078224"/>
            <a:ext cx="11679631" cy="237744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" y="4078224"/>
            <a:ext cx="11679631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1100">
                <a:solidFill>
                  <a:srgbClr val="FFFFFF"/>
                </a:solidFill>
                <a:latin typeface="Aptos"/>
              </a:rPr>
              <a:t>Financing Activities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256032" y="4315968"/>
          <a:ext cx="11676888" cy="16459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31720"/>
                <a:gridCol w="1188720"/>
                <a:gridCol w="1188720"/>
                <a:gridCol w="1188720"/>
                <a:gridCol w="1280160"/>
                <a:gridCol w="685800"/>
                <a:gridCol w="3813048"/>
              </a:tblGrid>
              <a:tr h="274320"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Account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Jul-26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Aug-26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Sep-26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Q3 Total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% / Q3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Compare / Remarks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Collection of Investor funds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720,000.00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229,000.00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949,000.00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42.0%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Jul: Dungun 120K, Pekan 600K; Sep: Imam Khairi 169K, PG 60K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Repayment from related parties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210,691.35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8,189.42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218,880.77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9.7%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Aug mainly Authentic RM210.6K; Sep TGCK RM8.2K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Repayment of loans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(159,745.15)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(155,237.00)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(159,887.29)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(474,869.44)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21.0%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Stable at about RM155K-RM160K monthly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Advance to related parties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(417,714.58)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(417.93)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(201,003.06)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(619,135.57)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27.4%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Jul: Bebeks 193.7K, Authentic 168.6K; Sep: Rindu Rasa 188.6K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FFFFFF"/>
                          </a:solidFill>
                          <a:latin typeface="Aptos"/>
                        </a:rPr>
                        <a:t>NET FINANCING ACTIVITIES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81E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142,540.27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55,036.42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(123,700.93)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73,875.76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100.0%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Positive Jul-Aug; Sep-26 net outflow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