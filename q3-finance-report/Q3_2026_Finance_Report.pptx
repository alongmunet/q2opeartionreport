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Flow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0F172A"/>
                </a:solidFill>
                <a:latin typeface="Aptos"/>
              </a:rPr>
              <a:t>Q3 operating cash was positive overall at RM2.27M, but negative in July after a RM1.03M SST payment. Net cash flow was (RM2.88M), mainly from RM3.34M new-branch capex and a RM2.00M fixed deposit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RM28.95M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Customers &amp; sales contribute 95.7%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63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6332" y="1463040"/>
            <a:ext cx="54864" cy="713232"/>
          </a:xfrm>
          <a:prstGeom prst="rect">
            <a:avLst/>
          </a:prstGeom>
          <a:solidFill>
            <a:srgbClr val="F790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43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RM26.67M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43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Inventory + wages are key outflows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463040"/>
            <a:ext cx="54864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NET CASH FROM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RM2.27M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Negative in Jul; positive Aug-Sep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6931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6931" y="1463040"/>
            <a:ext cx="54864" cy="713232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49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NET CASH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49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(RM2.88M)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49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Quarter total movement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572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52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SEPT NET CASH 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(RM1.72M)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Sep-26 monthly movement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34086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34086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FFFFFF"/>
                </a:solidFill>
                <a:latin typeface="Aptos"/>
              </a:rPr>
              <a:t>Monthly Cash Flow Summary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56032" y="2578608"/>
          <a:ext cx="11676888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325880"/>
                <a:gridCol w="1325880"/>
                <a:gridCol w="1325880"/>
                <a:gridCol w="1417320"/>
                <a:gridCol w="427024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9,919,617.17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28,946,566.89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Increased every month; Sep highest at RM9.92M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9,286,898.37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8,299,537.45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9,086,606.48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26,673,042.30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highest (RM1.03M SST); Aug lowest with no SST payment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Cash from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(59,499.21)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1,500,013.11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833,010.69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2,273,524.59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Negative in Jul; Aug strongest at RM1.50M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(1,490,846.36)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(2,445,279.73)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(4,356,453.78)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capex RM2.30M; Sep includes RM2.00M fixed deposit placement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(759,199.41)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74,626.92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(107,801.93)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(792,374.42)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Aug positive from RM230.3K 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"/>
                        </a:rPr>
                        <a:t>Net Cash 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(2,309,544.98)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1,154,312.34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(1,720,070.97)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(2,875,303.61)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Bank balance RM15.45M (1 Jul) to RM12.57M (30 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56032" y="58064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8064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Cash receipts grew every month from RM9.23M to RM9.92M, but SST payments in July and September (RM2.18M combined) and new-branch capex of RM3.34M pulled cash down. RM2.00M of the decline was placed in fixed deposit, not spent.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Receipts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200">
                <a:solidFill>
                  <a:srgbClr val="0F172A"/>
                </a:solidFill>
                <a:latin typeface="Aptos"/>
              </a:rPr>
              <a:t>Total cash receipts increased every month, from RM9.23M in July to RM9.92M in September. Royalty declined after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36192"/>
            <a:ext cx="11679631" cy="32918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536192"/>
            <a:ext cx="11679631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Receipts From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865376"/>
          <a:ext cx="11676888" cy="3383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188720"/>
                <a:gridCol w="1188720"/>
                <a:gridCol w="1188720"/>
                <a:gridCol w="1371600"/>
                <a:gridCol w="777240"/>
                <a:gridCol w="3584448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% of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Customers &amp; Sales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8,815,311.78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9,420,302.14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9,459,935.84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27,695,549.76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95.7%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Grew every month; Sep-26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Licensing fee &amp;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130,000.00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No receipts in Jul; RM120K licensing fee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Royalty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369,866.18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327,715.27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296,844.55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994,426.00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Declined Aug-Sep, in line with royalty discount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Other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42,221.20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41,533.15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42,836.78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126,591.13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Stable at about RM42K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FFFFFF"/>
                          </a:solidFill>
                          <a:latin typeface="Aptos"/>
                        </a:rPr>
                        <a:t>TOTAL 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9,919,617.17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28,946,566.89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Sep highest; Jul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5486400"/>
            <a:ext cx="5943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577840"/>
            <a:ext cx="557784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Receipts insights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Customers &amp; Sales contributed 95.7% of Q3 receipts.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Royalty fell from RM369.9K in July to RM296.8K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Licensing fee receipts rose from nil in July to RM120.0K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Other operations stayed stable at RM41.5K-RM42.8K per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Operating Cash Paid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Inventory purchases, wages, SST and rental were the biggest operating cash outflows. SST was paid in July and September, making them the two highest-outflow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1945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Paid For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91056"/>
          <a:ext cx="11676888" cy="41376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01168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%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Inventory purchases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4,918,792.44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5,000,785.79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4,224,003.99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14,143,582.22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53.0%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Peaked Aug; largest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Distribution Fee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Sep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140,976.35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32,000.00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227,765.00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400,741.35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HQ 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135,657.60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218,053.87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278,274.58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631,986.05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No payment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Marketing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7,678.23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30,473.45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6,945.85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45,097.53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Aug-26 highest; Sep-26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Profit sharing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58,018.61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114,075.02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67,013.90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239,107.53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Wage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1,825,325.86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1,785,806.92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1,776,058.92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5,387,191.70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Stable at RM1.78M-RM1.83M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Bank Charges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148.72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165.50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169.80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484.02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Income taxes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750,000.00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Stable monthly RM250K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New Branches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122,119.51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52,573.09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15,228.00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189,920.60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Branch Expenditure &amp; Upkeep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148,830.60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153,682.35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155,855.60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458,368.55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Increased gradually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Credit Card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68,504.89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4,045.97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102,185.69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174,736.55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Open House &amp; Iftar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No payment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Co Trip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Utilities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170,789.50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194,914.84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182,900.50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548,604.84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Rental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407,130.32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440,962.95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460,291.05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1,308,384.32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Sponsorship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1,900.13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1,900.13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Jul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SST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1,031,025.61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1,152,543.60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2,183,569.21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Paid in Jul and Sep; none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Donation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No payment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Aptos"/>
                        </a:rPr>
                        <a:t>TOTAL 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9,286,898.37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8,299,537.45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9,086,606.48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26,673,042.30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b="1" sz="850">
                          <a:solidFill>
                            <a:srgbClr val="0F172A"/>
                          </a:solidFill>
                          <a:latin typeface="Aptos"/>
                        </a:rPr>
                        <a:t>Jul highest; Aug lowest (no SST)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60350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TOP OUTFLOW CATEGORIES: Inventory purchases RM14.14M | Wage expenses RM5.39M | SST RM2.18M | Rental RM1.31M | Income taxes RM0.75M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Investing &amp; 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950">
                <a:solidFill>
                  <a:srgbClr val="0F172A"/>
                </a:solidFill>
                <a:latin typeface="Aptos"/>
              </a:rPr>
              <a:t>New-branch capex (RM3.34M) and a RM2.00M fixed deposit placement in September drove investing outflows. Financing was positive only in August, from related-party repayments.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73152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53312"/>
            <a:ext cx="11679631" cy="201168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53312"/>
            <a:ext cx="11679631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FFFFFF"/>
                </a:solidFill>
                <a:latin typeface="Aptos"/>
              </a:rPr>
              <a:t>Investing 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54480"/>
          <a:ext cx="11676888" cy="1828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Proceeds from sale of motor vehicle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Disposal of motor vehicle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Interest received (Maybank pooled)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Interest from Maybank pooled 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200,000.00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920,000.00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14.0%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Investor fund; Sep received via RHB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Sale of investment securities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Purchase of property and equipment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(100,223.00)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(17,369.00)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(14,400.00)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(131,992.00)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Capex New Branches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(2,300,748.36)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(402,958.69)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(639,849.95)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(3,343,557.00)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50.7%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For outlet expansion; Jul-26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Placement of Fixed 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30.3%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RM2.0M placed in fixed deposit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FFFFFF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(1,490,846.36)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(2,445,279.73)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(4,356,453.78)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Sep-26 highest outflow;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3529584"/>
            <a:ext cx="11679631" cy="201168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3529584"/>
            <a:ext cx="11679631" cy="2011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FFFFFF"/>
                </a:solidFill>
                <a:latin typeface="Aptos"/>
              </a:rPr>
              <a:t>Financing Activities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56032" y="3730752"/>
          <a:ext cx="11676888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Issuance of stock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Loan received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No new loan in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13.1%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Investor fund recorded under financing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Borrowing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(79,760.50)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230,281.85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15,899.00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166,420.35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18.7%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Net outflow in Jul; RM230.3K received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16.4%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Jul only (recorded under financing)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Repayment of loans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(159,745.15)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(155,237.00)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(159,887.29)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(474,869.44)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27.2%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Stable at about RM155K-RM160K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Dividends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Advance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(233,400.76)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(417.93)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(192,813.64)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(426,632.33)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24.5%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Jul-26 highest; Aug-26 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Repayment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Pending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 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FFFFFF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(759,199.41)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74,626.92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(107,801.93)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b="1" sz="800">
                          <a:solidFill>
                            <a:srgbClr val="C00000"/>
                          </a:solidFill>
                          <a:latin typeface="Aptos"/>
                        </a:rPr>
                        <a:t>(792,374.42)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b="1" sz="800">
                          <a:solidFill>
                            <a:srgbClr val="0F172A"/>
                          </a:solidFill>
                          <a:latin typeface="Aptos"/>
                        </a:rPr>
                        <a:t>Aug-26 positive;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