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100584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09728"/>
            <a:ext cx="91440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Aptos"/>
              </a:rPr>
              <a:t>Investment Portfolio: Summary of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512064"/>
            <a:ext cx="91440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700">
                <a:solidFill>
                  <a:srgbClr val="FFFFFF"/>
                </a:solidFill>
                <a:latin typeface="Aptos"/>
              </a:rPr>
              <a:t>TGFB Group | List of Investment for All Companies | Updated 21 September 2026 | All figures in RM</a:t>
            </a:r>
          </a:p>
        </p:txBody>
      </p:sp>
      <p:sp>
        <p:nvSpPr>
          <p:cNvPr id="6" name="Rectangle 5"/>
          <p:cNvSpPr/>
          <p:nvPr/>
        </p:nvSpPr>
        <p:spPr>
          <a:xfrm>
            <a:off x="9957816" y="182880"/>
            <a:ext cx="1216152" cy="39319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 tIns="0" bIns="0"/>
          <a:lstStyle/>
          <a:p>
            <a:pPr algn="ctr"/>
            <a:r>
              <a:rPr b="1" sz="900">
                <a:solidFill>
                  <a:srgbClr val="081E42"/>
                </a:solidFill>
                <a:latin typeface="Aptos"/>
              </a:rPr>
              <a:t>FY25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033271"/>
            <a:ext cx="11679631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050">
                <a:solidFill>
                  <a:srgbClr val="0F172A"/>
                </a:solidFill>
                <a:latin typeface="Aptos"/>
              </a:rPr>
              <a:t>TGFB holds RM4.35M of investments, now valued at RM4.51M: an unrealised gain of RM152.8K (3.5%), driven mainly by the gold bought in May 2025 (+RM138.3K).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6675120"/>
            <a:ext cx="10972800" cy="137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550">
                <a:solidFill>
                  <a:srgbClr val="64748B"/>
                </a:solidFill>
                <a:latin typeface="Aptos"/>
              </a:rPr>
              <a:t>Source: List of Investment FY25 - Summary of Investment (date update 21 September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463040"/>
            <a:ext cx="20756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463040"/>
            <a:ext cx="54864" cy="71323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17904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50">
                <a:solidFill>
                  <a:srgbClr val="64748B"/>
                </a:solidFill>
                <a:latin typeface="Aptos"/>
              </a:rPr>
              <a:t>TOTAL AMOUNT INVESTED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45920"/>
            <a:ext cx="1892807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700">
                <a:solidFill>
                  <a:srgbClr val="0F172A"/>
                </a:solidFill>
                <a:latin typeface="Aptos"/>
              </a:rPr>
              <a:t>RM4.35M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65960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00">
                <a:solidFill>
                  <a:srgbClr val="64748B"/>
                </a:solidFill>
                <a:latin typeface="Aptos"/>
              </a:rPr>
              <a:t>8 holdings, all under TGFB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6332" y="1463040"/>
            <a:ext cx="20756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6332" y="1463040"/>
            <a:ext cx="54864" cy="713232"/>
          </a:xfrm>
          <a:prstGeom prst="rect">
            <a:avLst/>
          </a:prstGeom>
          <a:solidFill>
            <a:srgbClr val="F790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4348" y="1517904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50">
                <a:solidFill>
                  <a:srgbClr val="64748B"/>
                </a:solidFill>
                <a:latin typeface="Aptos"/>
              </a:rPr>
              <a:t>CURRENT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4348" y="1645920"/>
            <a:ext cx="1892807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700">
                <a:solidFill>
                  <a:srgbClr val="0F172A"/>
                </a:solidFill>
                <a:latin typeface="Aptos"/>
              </a:rPr>
              <a:t>RM4.51M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4348" y="1965960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00">
                <a:solidFill>
                  <a:srgbClr val="64748B"/>
                </a:solidFill>
                <a:latin typeface="Aptos"/>
              </a:rPr>
              <a:t>As at 21 Sep 2026 update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56632" y="1463040"/>
            <a:ext cx="20756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56632" y="1463040"/>
            <a:ext cx="54864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4648" y="1517904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50">
                <a:solidFill>
                  <a:srgbClr val="64748B"/>
                </a:solidFill>
                <a:latin typeface="Aptos"/>
              </a:rPr>
              <a:t>UNREALISED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1645920"/>
            <a:ext cx="1892807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700">
                <a:solidFill>
                  <a:srgbClr val="0F172A"/>
                </a:solidFill>
                <a:latin typeface="Aptos"/>
              </a:rPr>
              <a:t>RM152.8K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8" y="1965960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00">
                <a:solidFill>
                  <a:srgbClr val="64748B"/>
                </a:solidFill>
                <a:latin typeface="Aptos"/>
              </a:rPr>
              <a:t>+3.5% on amount invested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6931" y="1463040"/>
            <a:ext cx="20756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6931" y="1463040"/>
            <a:ext cx="54864" cy="713232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4948" y="1517904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50">
                <a:solidFill>
                  <a:srgbClr val="64748B"/>
                </a:solidFill>
                <a:latin typeface="Aptos"/>
              </a:rPr>
              <a:t>FIXED DEPOSITS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4948" y="1645920"/>
            <a:ext cx="1892807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700">
                <a:solidFill>
                  <a:srgbClr val="0F172A"/>
                </a:solidFill>
                <a:latin typeface="Aptos"/>
              </a:rPr>
              <a:t>RM2.29M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4948" y="1965960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00">
                <a:solidFill>
                  <a:srgbClr val="64748B"/>
                </a:solidFill>
                <a:latin typeface="Aptos"/>
              </a:rPr>
              <a:t>52.5% of amount invested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57232" y="1463040"/>
            <a:ext cx="20756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57232" y="1463040"/>
            <a:ext cx="54864" cy="71323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5248" y="1517904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50">
                <a:solidFill>
                  <a:srgbClr val="64748B"/>
                </a:solidFill>
                <a:latin typeface="Aptos"/>
              </a:rPr>
              <a:t>MATURED FD PROFIT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1645920"/>
            <a:ext cx="1892807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700">
                <a:solidFill>
                  <a:srgbClr val="0F172A"/>
                </a:solidFill>
                <a:latin typeface="Aptos"/>
              </a:rPr>
              <a:t>RM33.7K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1965960"/>
            <a:ext cx="18928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600">
                <a:solidFill>
                  <a:srgbClr val="64748B"/>
                </a:solidFill>
                <a:latin typeface="Aptos"/>
              </a:rPr>
              <a:t>TGCK, TGL &amp; Bebeks (not renewed)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340864"/>
            <a:ext cx="11679631" cy="237744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" y="2340864"/>
            <a:ext cx="11679631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Aptos"/>
              </a:rPr>
              <a:t>TGFB: List of Investment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256032" y="2578608"/>
          <a:ext cx="11676888" cy="32095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4640"/>
                <a:gridCol w="1371600"/>
                <a:gridCol w="1371600"/>
                <a:gridCol w="1325880"/>
                <a:gridCol w="731520"/>
                <a:gridCol w="4041648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Type of Investment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Amount (RM)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Current Value (RM)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Profit / (Loss)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Return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Remarks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Unit Trust - AIIMAN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300,000.00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317,424.29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17,424.29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5.8%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Valued as of 19/06/2026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Maybank Malaysia Sukuk Fund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677,000.00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681,960.40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4,960.40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0.7%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Valued as of 19/06/2026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Gold (1 kg)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472,494.00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610,749.00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138,255.00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29.3%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Bought 19 May 2025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Gold (1 kg)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618,637.00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610,749.00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(7,888.00)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C00000"/>
                          </a:solidFill>
                          <a:latin typeface="Aptos"/>
                        </a:rPr>
                        <a:t>-1.3%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Bought 20 Mar 2026; below cost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Fixed Deposit - Loan Properties (FDR 1)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140,427.00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140,427.00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Deducted from bank account as at 1 Jul 2026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Fixed Deposit - Loan Properties (FDR 2)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73,425.00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73,425.00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Deducted from bank account as at 1 Jul 2026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Fixed Deposit - Loan Properties (FDR 3)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72,441.00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72,441.00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Deducted from bank account as at 1 Jul 2026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Fixed Deposit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2,000,000.00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2,000,000.00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Placed 3 Sep 2026, 1 year @ 3.3%, matures 3 Sep 2027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8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4,354,424.00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4,507,175.69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152,751.69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3.5%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Unrealised gain on TGFB holdings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256032" y="5943600"/>
            <a:ext cx="11679631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943600"/>
            <a:ext cx="11460175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b="1" sz="800">
                <a:solidFill>
                  <a:srgbClr val="64748B"/>
                </a:solidFill>
                <a:latin typeface="Aptos"/>
              </a:rPr>
              <a:t>KEY TAKEAWAY </a:t>
            </a:r>
            <a:r>
              <a:rPr b="1" sz="800">
                <a:solidFill>
                  <a:srgbClr val="0F172A"/>
                </a:solidFill>
                <a:latin typeface="Aptos"/>
              </a:rPr>
              <a:t>Gold is the main source of gain (+RM130.4K net across both bars). The RM2.00M fixed deposit at 3.3% p.a. should earn about RM66.0K by Sep 2027. Unit trust and sukuk values are as at 19 Jun 2026 and should be refreshed.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100584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09728"/>
            <a:ext cx="91440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Aptos"/>
              </a:rPr>
              <a:t>Investment Portfolio: Allocation &amp; Group Deposits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512064"/>
            <a:ext cx="914400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700">
                <a:solidFill>
                  <a:srgbClr val="FFFFFF"/>
                </a:solidFill>
                <a:latin typeface="Aptos"/>
              </a:rPr>
              <a:t>TGFB Group | List of Investment for All Companies | Updated 21 September 2026 | All figures in RM</a:t>
            </a:r>
          </a:p>
        </p:txBody>
      </p:sp>
      <p:sp>
        <p:nvSpPr>
          <p:cNvPr id="6" name="Rectangle 5"/>
          <p:cNvSpPr/>
          <p:nvPr/>
        </p:nvSpPr>
        <p:spPr>
          <a:xfrm>
            <a:off x="9957816" y="182880"/>
            <a:ext cx="1216152" cy="39319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 tIns="0" bIns="0"/>
          <a:lstStyle/>
          <a:p>
            <a:pPr algn="ctr"/>
            <a:r>
              <a:rPr b="1" sz="900">
                <a:solidFill>
                  <a:srgbClr val="081E42"/>
                </a:solidFill>
                <a:latin typeface="Aptos"/>
              </a:rPr>
              <a:t>FY25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033271"/>
            <a:ext cx="11679631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1" sz="1100">
                <a:solidFill>
                  <a:srgbClr val="0F172A"/>
                </a:solidFill>
                <a:latin typeface="Aptos"/>
              </a:rPr>
              <a:t>Fixed deposits make up about half of the portfolio; gold gives the highest return at 11.9%. TGCK, TGL and Bebeks FDs matured in September and were not renewed.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6675120"/>
            <a:ext cx="10972800" cy="137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b="0" sz="550">
                <a:solidFill>
                  <a:srgbClr val="64748B"/>
                </a:solidFill>
                <a:latin typeface="Aptos"/>
              </a:rPr>
              <a:t>Source: List of Investment FY25 - Summary of Investment (date update 21 September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371600"/>
            <a:ext cx="11679631" cy="237744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371600"/>
            <a:ext cx="11679631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  <a:latin typeface="Aptos"/>
              </a:rPr>
              <a:t>Allocation by Asset Class (TGFB)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6032" y="1609344"/>
          <a:ext cx="11676888" cy="19019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371600"/>
                <a:gridCol w="1371600"/>
                <a:gridCol w="1280160"/>
                <a:gridCol w="731520"/>
                <a:gridCol w="960120"/>
                <a:gridCol w="3584448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Asset Class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Amount (RM)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Current Value (RM)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Profit / (Loss)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Return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% of Portfolio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Remarks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Fixed Deposits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2,286,293.00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2,286,293.00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50.7%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4 placements; returns not yet accrued in the list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Gold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1,091,131.00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1,221,498.00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130,367.00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11.9%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27.1%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2 x 1kg; 2025 bar +29.3%, 2026 bar -1.3%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Unit Trust &amp; Sukuk Funds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977,000.00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999,384.69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22,384.69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2.3%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22.2%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D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AIIMAN +5.8%, Sukuk +0.7% (as of 19/06/2026)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FFFFFF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8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4,354,424.00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4,507,175.69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152,751.69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3.5%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/>
                      </a:pPr>
                      <a:r>
                        <a:rPr b="1" sz="1050">
                          <a:solidFill>
                            <a:srgbClr val="0F172A"/>
                          </a:solidFill>
                          <a:latin typeface="Aptos"/>
                        </a:rPr>
                        <a:t> 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56032" y="3840480"/>
            <a:ext cx="11679631" cy="237744"/>
          </a:xfrm>
          <a:prstGeom prst="rect">
            <a:avLst/>
          </a:prstGeom>
          <a:solidFill>
            <a:srgbClr val="081E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840480"/>
            <a:ext cx="11679631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b="1" sz="1050">
                <a:solidFill>
                  <a:srgbClr val="FFFFFF"/>
                </a:solidFill>
                <a:latin typeface="Aptos"/>
              </a:rPr>
              <a:t>Other Group Companies: Fixed Deposits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56032" y="4078224"/>
          <a:ext cx="11676888" cy="1737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2194560"/>
                <a:gridCol w="1371600"/>
                <a:gridCol w="1371600"/>
                <a:gridCol w="1280160"/>
                <a:gridCol w="4270248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Company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Type of Investment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Amount (RM)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Current Value (RM)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Profit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/>
                      </a:pPr>
                      <a:r>
                        <a:rPr b="1" sz="1000">
                          <a:solidFill>
                            <a:srgbClr val="081E42"/>
                          </a:solidFill>
                          <a:latin typeface="Aptos"/>
                        </a:rPr>
                        <a:t>Remarks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TGCK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Fixed Deposit (Maybank)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33,271.24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Matured 19 Sep 2026, not renewed; accumulated profit on RM1M FD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TGL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Fixed Deposit (Maybank)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210.00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12-month FD matured 17 Sep 2026, not renewed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Bebeks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2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Fixed Deposit (Maybank)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210.00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12-month FD matured 17 Sep 2026, not renewed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8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 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33,691.24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/>
                      </a:pPr>
                      <a:r>
                        <a:rPr b="1" sz="1000">
                          <a:solidFill>
                            <a:srgbClr val="0F172A"/>
                          </a:solidFill>
                          <a:latin typeface="Aptos"/>
                        </a:rPr>
                        <a:t>Realised profit; not in the portfolio total above</a:t>
                      </a: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FC20E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56032" y="5943600"/>
            <a:ext cx="11679631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943600"/>
            <a:ext cx="11460175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b="1" sz="800">
                <a:solidFill>
                  <a:srgbClr val="64748B"/>
                </a:solidFill>
                <a:latin typeface="Aptos"/>
              </a:rPr>
              <a:t>KEY TAKEAWAY </a:t>
            </a:r>
            <a:r>
              <a:rPr b="1" sz="800">
                <a:solidFill>
                  <a:srgbClr val="0F172A"/>
                </a:solidFill>
                <a:latin typeface="Aptos"/>
              </a:rPr>
              <a:t>Total profit across all companies is RM186.4K: RM152.8K unrealised on TGFB holdings plus RM33.7K realised from matured FDs at TGCK, TGL and Bebeks. The list shows no remaining FD balance outside TGFB.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